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TT Interphases" panose="020B0604020202020204" charset="0"/>
      <p:regular r:id="rId13"/>
    </p:embeddedFont>
    <p:embeddedFont>
      <p:font typeface="TT Interphase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BE8EB-4DAB-489A-95A0-F0A761A751A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028F8-5316-4EFB-8BFC-E5C681DBE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4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028F8-5316-4EFB-8BFC-E5C681DBEFA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84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88068" y="1028700"/>
            <a:ext cx="7571232" cy="8229600"/>
          </a:xfrm>
          <a:custGeom>
            <a:avLst/>
            <a:gdLst/>
            <a:ahLst/>
            <a:cxnLst/>
            <a:rect l="l" t="t" r="r" b="b"/>
            <a:pathLst>
              <a:path w="7571232" h="8229600">
                <a:moveTo>
                  <a:pt x="0" y="0"/>
                </a:moveTo>
                <a:lnTo>
                  <a:pt x="7571232" y="0"/>
                </a:lnTo>
                <a:lnTo>
                  <a:pt x="75712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912167"/>
            <a:ext cx="6790112" cy="2843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30"/>
              </a:lnSpc>
            </a:pPr>
            <a:r>
              <a:rPr lang="en-US" sz="12334" spc="-604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Analytics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9296" y="3138067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642929" y="9063228"/>
            <a:ext cx="1616371" cy="19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9"/>
              </a:lnSpc>
            </a:pPr>
            <a:r>
              <a:rPr lang="en-US" sz="1700" spc="-8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27 June,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245076"/>
            <a:ext cx="7548480" cy="7013224"/>
          </a:xfrm>
          <a:custGeom>
            <a:avLst/>
            <a:gdLst/>
            <a:ahLst/>
            <a:cxnLst/>
            <a:rect l="l" t="t" r="r" b="b"/>
            <a:pathLst>
              <a:path w="7548480" h="7013224">
                <a:moveTo>
                  <a:pt x="0" y="0"/>
                </a:moveTo>
                <a:lnTo>
                  <a:pt x="7548480" y="0"/>
                </a:lnTo>
                <a:lnTo>
                  <a:pt x="7548480" y="7013224"/>
                </a:lnTo>
                <a:lnTo>
                  <a:pt x="0" y="7013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035449" y="1028700"/>
            <a:ext cx="1223851" cy="847795"/>
          </a:xfrm>
          <a:custGeom>
            <a:avLst/>
            <a:gdLst/>
            <a:ahLst/>
            <a:cxnLst/>
            <a:rect l="l" t="t" r="r" b="b"/>
            <a:pathLst>
              <a:path w="1223851" h="847795">
                <a:moveTo>
                  <a:pt x="1223851" y="0"/>
                </a:moveTo>
                <a:lnTo>
                  <a:pt x="0" y="0"/>
                </a:lnTo>
                <a:lnTo>
                  <a:pt x="0" y="847795"/>
                </a:lnTo>
                <a:lnTo>
                  <a:pt x="1223851" y="847795"/>
                </a:lnTo>
                <a:lnTo>
                  <a:pt x="12238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52294" y="2750290"/>
            <a:ext cx="6234058" cy="101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52294" y="5729605"/>
            <a:ext cx="7007006" cy="15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2800" dirty="0"/>
              <a:t>Using data analysis on a company's stock prices to identify good buying and selling opportunities.</a:t>
            </a:r>
          </a:p>
          <a:p>
            <a:pPr>
              <a:lnSpc>
                <a:spcPts val="2380"/>
              </a:lnSpc>
            </a:pPr>
            <a:endParaRPr lang="en-US" sz="2800" dirty="0"/>
          </a:p>
          <a:p>
            <a:pPr>
              <a:lnSpc>
                <a:spcPts val="2380"/>
              </a:lnSpc>
            </a:pPr>
            <a:r>
              <a:rPr lang="en-US" sz="2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Using Moving Averages and </a:t>
            </a:r>
            <a:r>
              <a:rPr lang="en-US" sz="28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Rsi</a:t>
            </a:r>
            <a:r>
              <a:rPr lang="en-US" sz="2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for our signals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29974" y="3147267"/>
            <a:ext cx="6629326" cy="6111033"/>
          </a:xfrm>
          <a:custGeom>
            <a:avLst/>
            <a:gdLst/>
            <a:ahLst/>
            <a:cxnLst/>
            <a:rect l="l" t="t" r="r" b="b"/>
            <a:pathLst>
              <a:path w="6629326" h="6111033">
                <a:moveTo>
                  <a:pt x="0" y="0"/>
                </a:moveTo>
                <a:lnTo>
                  <a:pt x="6629326" y="0"/>
                </a:lnTo>
                <a:lnTo>
                  <a:pt x="6629326" y="6111033"/>
                </a:lnTo>
                <a:lnTo>
                  <a:pt x="0" y="6111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2130731" y="-184836"/>
            <a:ext cx="969594" cy="3396666"/>
          </a:xfrm>
          <a:custGeom>
            <a:avLst/>
            <a:gdLst/>
            <a:ahLst/>
            <a:cxnLst/>
            <a:rect l="l" t="t" r="r" b="b"/>
            <a:pathLst>
              <a:path w="969594" h="3396666">
                <a:moveTo>
                  <a:pt x="0" y="0"/>
                </a:moveTo>
                <a:lnTo>
                  <a:pt x="969594" y="0"/>
                </a:lnTo>
                <a:lnTo>
                  <a:pt x="969594" y="3396666"/>
                </a:lnTo>
                <a:lnTo>
                  <a:pt x="0" y="3396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734845"/>
            <a:ext cx="9601274" cy="101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Library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0600" y="4914901"/>
            <a:ext cx="53340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2400" spc="-83" dirty="0" err="1">
                <a:solidFill>
                  <a:srgbClr val="FF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yfiniance</a:t>
            </a:r>
            <a:r>
              <a:rPr lang="en-US" sz="24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: </a:t>
            </a:r>
            <a:r>
              <a:rPr lang="en-IN" sz="2400" b="1" dirty="0"/>
              <a:t>Yahoo Finance </a:t>
            </a:r>
            <a:r>
              <a:rPr lang="en-US" sz="2400" dirty="0"/>
              <a:t>is a </a:t>
            </a:r>
            <a:r>
              <a:rPr lang="en-US" sz="2400" b="1" dirty="0"/>
              <a:t>Python library</a:t>
            </a:r>
            <a:r>
              <a:rPr lang="en-US" sz="2400" dirty="0"/>
              <a:t> used to </a:t>
            </a:r>
            <a:r>
              <a:rPr lang="en-US" sz="2400" b="1" dirty="0"/>
              <a:t>fetch financial market data</a:t>
            </a:r>
          </a:p>
          <a:p>
            <a:pPr marL="457200" indent="-457200">
              <a:lnSpc>
                <a:spcPts val="2380"/>
              </a:lnSpc>
              <a:buAutoNum type="arabicPeriod"/>
            </a:pPr>
            <a:endParaRPr lang="en-US" sz="2400" b="1" dirty="0"/>
          </a:p>
          <a:p>
            <a:pPr marL="342900" indent="-342900">
              <a:lnSpc>
                <a:spcPts val="2380"/>
              </a:lnSpc>
              <a:buAutoNum type="arabicPeriod"/>
            </a:pPr>
            <a:r>
              <a:rPr lang="en-IN" sz="2400" b="1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pandas: </a:t>
            </a:r>
            <a:r>
              <a:rPr lang="en-US" sz="2400" b="1" dirty="0"/>
              <a:t>Pandas</a:t>
            </a:r>
            <a:r>
              <a:rPr lang="en-US" sz="2400" dirty="0"/>
              <a:t> is a powerful Python library used for </a:t>
            </a:r>
            <a:r>
              <a:rPr lang="en-US" sz="2400" b="1" dirty="0"/>
              <a:t>data analysis and manipulation</a:t>
            </a:r>
          </a:p>
          <a:p>
            <a:pPr marL="342900" indent="-342900">
              <a:lnSpc>
                <a:spcPts val="2380"/>
              </a:lnSpc>
              <a:buAutoNum type="arabicPeriod"/>
            </a:pPr>
            <a:endParaRPr lang="en-US" sz="2400" b="1" dirty="0"/>
          </a:p>
          <a:p>
            <a:pPr marL="342900" indent="-342900">
              <a:lnSpc>
                <a:spcPts val="2380"/>
              </a:lnSpc>
              <a:buAutoNum type="arabicPeriod"/>
            </a:pPr>
            <a:r>
              <a:rPr lang="en-US" sz="2400" spc="-83" dirty="0" err="1">
                <a:solidFill>
                  <a:srgbClr val="FF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Mathplotlib</a:t>
            </a:r>
            <a:r>
              <a:rPr lang="en-US" sz="2400" spc="-83" dirty="0">
                <a:solidFill>
                  <a:srgbClr val="FF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</a:t>
            </a:r>
            <a:r>
              <a:rPr lang="en-US" sz="2400" b="1" dirty="0"/>
              <a:t>Matplotlib</a:t>
            </a:r>
            <a:r>
              <a:rPr lang="en-US" sz="2400" dirty="0"/>
              <a:t> is a Python library used for </a:t>
            </a:r>
            <a:r>
              <a:rPr lang="en-US" sz="2400" b="1" dirty="0"/>
              <a:t>data visualization</a:t>
            </a:r>
          </a:p>
          <a:p>
            <a:pPr marL="342900" indent="-342900">
              <a:lnSpc>
                <a:spcPts val="2380"/>
              </a:lnSpc>
              <a:buAutoNum type="arabicPeriod"/>
            </a:pPr>
            <a:endParaRPr lang="en-US" sz="2400" b="1" dirty="0"/>
          </a:p>
          <a:p>
            <a:pPr marL="342900" indent="-342900">
              <a:lnSpc>
                <a:spcPts val="2380"/>
              </a:lnSpc>
              <a:buAutoNum type="arabicPeriod"/>
            </a:pPr>
            <a:r>
              <a:rPr lang="en-IN" sz="2400" dirty="0" err="1">
                <a:solidFill>
                  <a:srgbClr val="FF0000"/>
                </a:solidFill>
              </a:rPr>
              <a:t>Numpy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Python library used for </a:t>
            </a:r>
            <a:r>
              <a:rPr lang="en-US" sz="2400" b="1" dirty="0"/>
              <a:t>fast numerical computations and data processing</a:t>
            </a:r>
          </a:p>
          <a:p>
            <a:pPr marL="342900" indent="-342900">
              <a:lnSpc>
                <a:spcPts val="2380"/>
              </a:lnSpc>
              <a:buAutoNum type="arabicPeriod"/>
            </a:pPr>
            <a:endParaRPr lang="en-US" sz="2400" b="1" dirty="0"/>
          </a:p>
          <a:p>
            <a:pPr marL="342900" indent="-342900">
              <a:lnSpc>
                <a:spcPts val="2380"/>
              </a:lnSpc>
              <a:buAutoNum type="arabicPeriod"/>
            </a:pPr>
            <a:endParaRPr lang="en-US" sz="2000" spc="-83" dirty="0">
              <a:solidFill>
                <a:srgbClr val="FF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06416"/>
            <a:ext cx="6730928" cy="5751884"/>
          </a:xfrm>
          <a:custGeom>
            <a:avLst/>
            <a:gdLst/>
            <a:ahLst/>
            <a:cxnLst/>
            <a:rect l="l" t="t" r="r" b="b"/>
            <a:pathLst>
              <a:path w="6730928" h="5751884">
                <a:moveTo>
                  <a:pt x="0" y="0"/>
                </a:moveTo>
                <a:lnTo>
                  <a:pt x="6730928" y="0"/>
                </a:lnTo>
                <a:lnTo>
                  <a:pt x="6730928" y="5751884"/>
                </a:lnTo>
                <a:lnTo>
                  <a:pt x="0" y="575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00800" y="1550108"/>
            <a:ext cx="729305" cy="566206"/>
          </a:xfrm>
          <a:custGeom>
            <a:avLst/>
            <a:gdLst/>
            <a:ahLst/>
            <a:cxnLst/>
            <a:rect l="l" t="t" r="r" b="b"/>
            <a:pathLst>
              <a:path w="729305" h="566206">
                <a:moveTo>
                  <a:pt x="0" y="0"/>
                </a:moveTo>
                <a:lnTo>
                  <a:pt x="729305" y="0"/>
                </a:lnTo>
                <a:lnTo>
                  <a:pt x="729305" y="566207"/>
                </a:lnTo>
                <a:lnTo>
                  <a:pt x="0" y="566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70894" y="1035790"/>
            <a:ext cx="7639639" cy="101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Loading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29800" y="2295621"/>
            <a:ext cx="283660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Lodaing</a:t>
            </a:r>
            <a:r>
              <a:rPr lang="en-US" sz="1700" b="1" spc="-83" dirty="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Data Using </a:t>
            </a:r>
            <a:r>
              <a:rPr lang="en-US" sz="17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yfiniance</a:t>
            </a:r>
            <a:endParaRPr lang="en-US" sz="1700" b="1" spc="-83" dirty="0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2376593" y="866278"/>
            <a:ext cx="436681" cy="339023"/>
          </a:xfrm>
          <a:custGeom>
            <a:avLst/>
            <a:gdLst/>
            <a:ahLst/>
            <a:cxnLst/>
            <a:rect l="l" t="t" r="r" b="b"/>
            <a:pathLst>
              <a:path w="436681" h="339023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65DCE-6D7D-FED2-FE69-E1D95E2D3B0C}"/>
              </a:ext>
            </a:extLst>
          </p:cNvPr>
          <p:cNvSpPr txBox="1"/>
          <p:nvPr/>
        </p:nvSpPr>
        <p:spPr>
          <a:xfrm>
            <a:off x="8374625" y="2927370"/>
            <a:ext cx="84406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</a:t>
            </a:r>
            <a:r>
              <a:rPr lang="en-US" dirty="0"/>
              <a:t>data = </a:t>
            </a:r>
            <a:r>
              <a:rPr lang="en-US" dirty="0" err="1"/>
              <a:t>yf.download</a:t>
            </a:r>
            <a:r>
              <a:rPr lang="en-US" dirty="0"/>
              <a:t>('</a:t>
            </a:r>
            <a:r>
              <a:rPr lang="en-US" dirty="0" err="1"/>
              <a:t>Reliance.NS</a:t>
            </a:r>
            <a:r>
              <a:rPr lang="en-US" dirty="0"/>
              <a:t>', </a:t>
            </a:r>
            <a:r>
              <a:rPr lang="en-US" i="1" dirty="0"/>
              <a:t>start</a:t>
            </a:r>
            <a:r>
              <a:rPr lang="en-US" dirty="0"/>
              <a:t>='2022-01-01', </a:t>
            </a:r>
            <a:r>
              <a:rPr lang="en-US" i="1" dirty="0"/>
              <a:t>end</a:t>
            </a:r>
            <a:r>
              <a:rPr lang="en-US" dirty="0"/>
              <a:t>='2025-11-4’)</a:t>
            </a:r>
          </a:p>
          <a:p>
            <a:r>
              <a:rPr lang="en-US" dirty="0"/>
              <a:t>             </a:t>
            </a:r>
            <a:r>
              <a:rPr lang="en-US" dirty="0" err="1"/>
              <a:t>Reliance.NS</a:t>
            </a:r>
            <a:r>
              <a:rPr lang="en-US" dirty="0"/>
              <a:t> this load the company data , start  tells us form which date to start</a:t>
            </a:r>
          </a:p>
          <a:p>
            <a:r>
              <a:rPr lang="en-US" dirty="0"/>
              <a:t>            end denotes the end date .</a:t>
            </a:r>
          </a:p>
          <a:p>
            <a:endParaRPr lang="en-US" dirty="0"/>
          </a:p>
          <a:p>
            <a:r>
              <a:rPr lang="en-US" dirty="0"/>
              <a:t>2. data will be a pandas data frame 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E0D885-4447-A3EF-7FB5-7FD7BAA585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721" y="4762500"/>
            <a:ext cx="7958426" cy="11747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D6D959-3652-D853-3A61-E2FBF25821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721" y="6184387"/>
            <a:ext cx="7257243" cy="2549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7297400" y="9639300"/>
            <a:ext cx="735454" cy="437261"/>
          </a:xfrm>
          <a:custGeom>
            <a:avLst/>
            <a:gdLst/>
            <a:ahLst/>
            <a:cxnLst/>
            <a:rect l="l" t="t" r="r" b="b"/>
            <a:pathLst>
              <a:path w="735454" h="437261">
                <a:moveTo>
                  <a:pt x="0" y="0"/>
                </a:moveTo>
                <a:lnTo>
                  <a:pt x="735454" y="0"/>
                </a:lnTo>
                <a:lnTo>
                  <a:pt x="735454" y="437261"/>
                </a:lnTo>
                <a:lnTo>
                  <a:pt x="0" y="437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266700"/>
            <a:ext cx="10972800" cy="1998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56"/>
              </a:lnSpc>
            </a:pPr>
            <a:r>
              <a:rPr lang="en-US" sz="8800" spc="-431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Calculating Moving Average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2705100"/>
            <a:ext cx="5462411" cy="121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600" dirty="0"/>
              <a:t>Takes the last </a:t>
            </a:r>
            <a:r>
              <a:rPr lang="en-US" sz="1600" b="1" dirty="0"/>
              <a:t>20 days/50 days</a:t>
            </a:r>
            <a:r>
              <a:rPr lang="en-US" sz="1600" dirty="0"/>
              <a:t> of closing prices.</a:t>
            </a:r>
          </a:p>
          <a:p>
            <a:pPr>
              <a:lnSpc>
                <a:spcPts val="2380"/>
              </a:lnSpc>
            </a:pPr>
            <a:r>
              <a:rPr lang="en-IN" sz="1600" dirty="0"/>
              <a:t>Calculates their </a:t>
            </a:r>
            <a:r>
              <a:rPr lang="en-IN" sz="1600" b="1" dirty="0"/>
              <a:t>average</a:t>
            </a:r>
          </a:p>
          <a:p>
            <a:pPr>
              <a:lnSpc>
                <a:spcPts val="2380"/>
              </a:lnSpc>
            </a:pPr>
            <a:r>
              <a:rPr lang="en-US" sz="1600" dirty="0"/>
              <a:t>Moves one day forward, and again takes the latest 20 days to compute a new average.</a:t>
            </a:r>
            <a:endParaRPr lang="en-US" sz="1700" spc="-83" dirty="0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EE0D62-9FBF-C506-3CC9-EF8712CD9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370" y="2705100"/>
            <a:ext cx="10353026" cy="14631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151D3A-8BF8-1360-59B6-25D85B5C4D9A}"/>
              </a:ext>
            </a:extLst>
          </p:cNvPr>
          <p:cNvSpPr txBox="1"/>
          <p:nvPr/>
        </p:nvSpPr>
        <p:spPr>
          <a:xfrm>
            <a:off x="152400" y="4607720"/>
            <a:ext cx="10353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T Interphases" panose="020B0604020202020204" charset="0"/>
              </a:rPr>
              <a:t>Making Buy and Sell signals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5A930-55B9-596A-7C4C-CC1DD3BCEB14}"/>
              </a:ext>
            </a:extLst>
          </p:cNvPr>
          <p:cNvSpPr txBox="1"/>
          <p:nvPr/>
        </p:nvSpPr>
        <p:spPr>
          <a:xfrm>
            <a:off x="152400" y="5600700"/>
            <a:ext cx="75249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ighlight>
                  <a:srgbClr val="FFFF00"/>
                </a:highlight>
              </a:rPr>
              <a:t>signal_values</a:t>
            </a:r>
            <a:r>
              <a:rPr lang="en-IN" dirty="0">
                <a:highlight>
                  <a:srgbClr val="FFFF00"/>
                </a:highlight>
              </a:rPr>
              <a:t> = </a:t>
            </a:r>
            <a:r>
              <a:rPr lang="en-IN" dirty="0" err="1">
                <a:highlight>
                  <a:srgbClr val="FFFF00"/>
                </a:highlight>
              </a:rPr>
              <a:t>np.where</a:t>
            </a:r>
            <a:r>
              <a:rPr lang="en-IN" dirty="0">
                <a:highlight>
                  <a:srgbClr val="FFFF00"/>
                </a:highlight>
              </a:rPr>
              <a:t>(data['SMA20'][20:] &gt; data['SMA50'][20:], 1, 0)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SMA20 &gt; SMA50 → 1 this is our buy signal</a:t>
            </a:r>
          </a:p>
          <a:p>
            <a:r>
              <a:rPr lang="en-IN" dirty="0"/>
              <a:t>SMA20 ≤ SMA50 → 0 this is our sell signal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US" dirty="0" err="1">
                <a:highlight>
                  <a:srgbClr val="FFFF00"/>
                </a:highlight>
              </a:rPr>
              <a:t>data.iloc</a:t>
            </a:r>
            <a:r>
              <a:rPr lang="en-US" dirty="0">
                <a:highlight>
                  <a:srgbClr val="FFFF00"/>
                </a:highlight>
              </a:rPr>
              <a:t>[20:, </a:t>
            </a:r>
            <a:r>
              <a:rPr lang="en-US" dirty="0" err="1">
                <a:highlight>
                  <a:srgbClr val="FFFF00"/>
                </a:highlight>
              </a:rPr>
              <a:t>data.columns.get_loc</a:t>
            </a:r>
            <a:r>
              <a:rPr lang="en-US" dirty="0">
                <a:highlight>
                  <a:srgbClr val="FFFF00"/>
                </a:highlight>
              </a:rPr>
              <a:t>('Signal')] = </a:t>
            </a:r>
            <a:r>
              <a:rPr lang="en-US" dirty="0" err="1">
                <a:highlight>
                  <a:srgbClr val="FFFF00"/>
                </a:highlight>
              </a:rPr>
              <a:t>signal_values</a:t>
            </a:r>
            <a:endParaRPr lang="en-US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Puts sell signals into data frame but from </a:t>
            </a:r>
            <a:r>
              <a:rPr lang="en-US" dirty="0"/>
              <a:t>but only starting from row </a:t>
            </a:r>
            <a:r>
              <a:rPr lang="en-US" b="1" dirty="0"/>
              <a:t>20</a:t>
            </a:r>
          </a:p>
          <a:p>
            <a:r>
              <a:rPr lang="en-US" dirty="0"/>
              <a:t>because the first 20 rows don’t have enough data to calculate the SMA</a:t>
            </a:r>
          </a:p>
          <a:p>
            <a:endParaRPr lang="en-IN" dirty="0"/>
          </a:p>
          <a:p>
            <a:r>
              <a:rPr lang="it-IT" dirty="0">
                <a:highlight>
                  <a:srgbClr val="FFFF00"/>
                </a:highlight>
              </a:rPr>
              <a:t>data['Position'] = data['Signal'].diff()</a:t>
            </a:r>
          </a:p>
          <a:p>
            <a:endParaRPr lang="it-IT" dirty="0">
              <a:highlight>
                <a:srgbClr val="FFFF00"/>
              </a:highlight>
            </a:endParaRPr>
          </a:p>
          <a:p>
            <a:r>
              <a:rPr lang="it-IT" dirty="0"/>
              <a:t>It finds when the signal changes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51D0D1-50DE-81BF-672F-A2FEE37869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370" y="5808641"/>
            <a:ext cx="10353026" cy="31994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2400" y="190500"/>
            <a:ext cx="7193539" cy="101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Plotting Chart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139554" y="0"/>
            <a:ext cx="7148446" cy="4185090"/>
          </a:xfrm>
          <a:custGeom>
            <a:avLst/>
            <a:gdLst/>
            <a:ahLst/>
            <a:cxnLst/>
            <a:rect l="l" t="t" r="r" b="b"/>
            <a:pathLst>
              <a:path w="7148446" h="4185090">
                <a:moveTo>
                  <a:pt x="0" y="0"/>
                </a:moveTo>
                <a:lnTo>
                  <a:pt x="7148446" y="0"/>
                </a:lnTo>
                <a:lnTo>
                  <a:pt x="7148446" y="4185090"/>
                </a:lnTo>
                <a:lnTo>
                  <a:pt x="0" y="418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F85E98-51B6-AC2F-E072-F499EEE5F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85954"/>
            <a:ext cx="10637879" cy="45572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BE8F10-B92E-3828-11F1-E40708C39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838700"/>
            <a:ext cx="1115377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0"/>
            <a:ext cx="7577855" cy="86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56"/>
              </a:lnSpc>
            </a:pPr>
            <a:r>
              <a:rPr lang="en-US" sz="4000" b="1" dirty="0">
                <a:latin typeface="TT Interphases" panose="020B0604020202020204" charset="0"/>
              </a:rPr>
              <a:t>Plotting chat base on </a:t>
            </a:r>
            <a:r>
              <a:rPr lang="en-US" sz="4000" b="1" dirty="0" err="1">
                <a:latin typeface="TT Interphases" panose="020B0604020202020204" charset="0"/>
              </a:rPr>
              <a:t>Rsi</a:t>
            </a:r>
            <a:r>
              <a:rPr lang="en-US" sz="4000" b="1" dirty="0">
                <a:latin typeface="TT Interphases" panose="020B0604020202020204" charset="0"/>
              </a:rPr>
              <a:t> Value</a:t>
            </a:r>
            <a:endParaRPr lang="en-US" sz="4000" b="1" spc="-431" dirty="0">
              <a:solidFill>
                <a:srgbClr val="000000"/>
              </a:solidFill>
              <a:latin typeface="TT Interphases" panose="020B0604020202020204" charset="0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1499A-BD54-2644-D757-313B3B5E02BA}"/>
              </a:ext>
            </a:extLst>
          </p:cNvPr>
          <p:cNvSpPr txBox="1"/>
          <p:nvPr/>
        </p:nvSpPr>
        <p:spPr>
          <a:xfrm>
            <a:off x="152400" y="1409700"/>
            <a:ext cx="105918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RSI stands for </a:t>
            </a:r>
            <a:r>
              <a:rPr lang="en-US" sz="2000" i="1" u="sng" dirty="0"/>
              <a:t>Relative Strength Index</a:t>
            </a:r>
            <a:r>
              <a:rPr lang="en-US" sz="2000" i="1" dirty="0"/>
              <a:t>.</a:t>
            </a:r>
          </a:p>
          <a:p>
            <a:r>
              <a:rPr lang="en-US" sz="2000" i="1" dirty="0"/>
              <a:t>It’s a simple tool that measures how fast and strong the stock price is moving.</a:t>
            </a:r>
          </a:p>
          <a:p>
            <a:r>
              <a:rPr lang="en-US" sz="2000" i="1" dirty="0"/>
              <a:t>When RSI goes above 70, it usually means the stock is getting too expensive — and it might be time to sell.</a:t>
            </a:r>
          </a:p>
          <a:p>
            <a:r>
              <a:rPr lang="en-US" sz="2000" i="1" dirty="0"/>
              <a:t>When RSI drops below 30, it means the stock might be cheap — and it could be a good time to buy</a:t>
            </a:r>
          </a:p>
          <a:p>
            <a:endParaRPr lang="en-IN" dirty="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E142603-9DC6-68D2-BA6B-B48D72B04D79}"/>
              </a:ext>
            </a:extLst>
          </p:cNvPr>
          <p:cNvSpPr/>
          <p:nvPr/>
        </p:nvSpPr>
        <p:spPr>
          <a:xfrm rot="-5400000">
            <a:off x="8452536" y="7892364"/>
            <a:ext cx="969594" cy="3396666"/>
          </a:xfrm>
          <a:custGeom>
            <a:avLst/>
            <a:gdLst/>
            <a:ahLst/>
            <a:cxnLst/>
            <a:rect l="l" t="t" r="r" b="b"/>
            <a:pathLst>
              <a:path w="969594" h="3396666">
                <a:moveTo>
                  <a:pt x="0" y="0"/>
                </a:moveTo>
                <a:lnTo>
                  <a:pt x="969594" y="0"/>
                </a:lnTo>
                <a:lnTo>
                  <a:pt x="969594" y="3396666"/>
                </a:lnTo>
                <a:lnTo>
                  <a:pt x="0" y="3396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99CBD-41B5-78B4-CE55-84315E0AFC73}"/>
              </a:ext>
            </a:extLst>
          </p:cNvPr>
          <p:cNvSpPr txBox="1"/>
          <p:nvPr/>
        </p:nvSpPr>
        <p:spPr>
          <a:xfrm>
            <a:off x="304800" y="3543300"/>
            <a:ext cx="10134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gain = (</a:t>
            </a:r>
            <a:r>
              <a:rPr lang="en-US" dirty="0" err="1">
                <a:highlight>
                  <a:srgbClr val="FFFF00"/>
                </a:highlight>
              </a:rPr>
              <a:t>delta.where</a:t>
            </a:r>
            <a:r>
              <a:rPr lang="en-US" dirty="0">
                <a:highlight>
                  <a:srgbClr val="FFFF00"/>
                </a:highlight>
              </a:rPr>
              <a:t>(delta &gt; 0, 0)).rolling(window=period).mean()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Keeps </a:t>
            </a:r>
            <a:r>
              <a:rPr lang="en-US" b="1" dirty="0"/>
              <a:t>only the positive changes</a:t>
            </a:r>
            <a:r>
              <a:rPr lang="en-US" dirty="0"/>
              <a:t> (gains), others become 0</a:t>
            </a:r>
          </a:p>
          <a:p>
            <a:r>
              <a:rPr lang="en-US" dirty="0"/>
              <a:t>Takes the </a:t>
            </a:r>
            <a:r>
              <a:rPr lang="en-US" b="1" dirty="0"/>
              <a:t>average gain over 14 days</a:t>
            </a:r>
            <a:r>
              <a:rPr lang="en-US" dirty="0"/>
              <a:t>.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loss = (-</a:t>
            </a:r>
            <a:r>
              <a:rPr lang="en-US" dirty="0" err="1">
                <a:highlight>
                  <a:srgbClr val="FFFF00"/>
                </a:highlight>
              </a:rPr>
              <a:t>delta.where</a:t>
            </a:r>
            <a:r>
              <a:rPr lang="en-US" dirty="0">
                <a:highlight>
                  <a:srgbClr val="FFFF00"/>
                </a:highlight>
              </a:rPr>
              <a:t>(delta &lt; 0, 0)).rolling(window=period).mean()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US" dirty="0"/>
              <a:t>Keeps </a:t>
            </a:r>
            <a:r>
              <a:rPr lang="en-US" b="1" dirty="0"/>
              <a:t>only the negative changes</a:t>
            </a:r>
            <a:r>
              <a:rPr lang="en-US" dirty="0"/>
              <a:t> (losses), makes them positive</a:t>
            </a:r>
          </a:p>
          <a:p>
            <a:r>
              <a:rPr lang="en-US" dirty="0"/>
              <a:t>Takes the </a:t>
            </a:r>
            <a:r>
              <a:rPr lang="en-US" b="1" dirty="0"/>
              <a:t>average loss over 14 days</a:t>
            </a: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96E927-6139-0A9F-27EF-8C0AABCCD5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3544529"/>
            <a:ext cx="8649218" cy="25840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715000" y="2019300"/>
            <a:ext cx="8473720" cy="86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56"/>
              </a:lnSpc>
            </a:pPr>
            <a:r>
              <a:rPr lang="en-IN" sz="4000" b="1" dirty="0">
                <a:latin typeface="TT Interphases" panose="020B0604020202020204" charset="0"/>
              </a:rPr>
              <a:t>Create Buy/Sell Signals</a:t>
            </a:r>
            <a:endParaRPr lang="en-US" sz="4000" b="1" spc="-431" dirty="0">
              <a:solidFill>
                <a:srgbClr val="000000"/>
              </a:solidFill>
              <a:latin typeface="TT Interphases" panose="020B0604020202020204" charset="0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Freeform 6"/>
          <p:cNvSpPr/>
          <p:nvPr/>
        </p:nvSpPr>
        <p:spPr>
          <a:xfrm rot="-5400000">
            <a:off x="8021708" y="-669633"/>
            <a:ext cx="969594" cy="3396666"/>
          </a:xfrm>
          <a:custGeom>
            <a:avLst/>
            <a:gdLst/>
            <a:ahLst/>
            <a:cxnLst/>
            <a:rect l="l" t="t" r="r" b="b"/>
            <a:pathLst>
              <a:path w="969594" h="3396666">
                <a:moveTo>
                  <a:pt x="0" y="0"/>
                </a:moveTo>
                <a:lnTo>
                  <a:pt x="969594" y="0"/>
                </a:lnTo>
                <a:lnTo>
                  <a:pt x="969594" y="3396666"/>
                </a:lnTo>
                <a:lnTo>
                  <a:pt x="0" y="3396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947A5-7572-74D5-3C72-AA1BB7743397}"/>
              </a:ext>
            </a:extLst>
          </p:cNvPr>
          <p:cNvSpPr txBox="1"/>
          <p:nvPr/>
        </p:nvSpPr>
        <p:spPr>
          <a:xfrm>
            <a:off x="1371600" y="3162300"/>
            <a:ext cx="762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data.loc[data['RSI'] &lt; 30, 'Signal'] = 1</a:t>
            </a:r>
          </a:p>
          <a:p>
            <a:endParaRPr lang="it-IT" dirty="0">
              <a:highlight>
                <a:srgbClr val="FFFF00"/>
              </a:highlight>
            </a:endParaRPr>
          </a:p>
          <a:p>
            <a:r>
              <a:rPr lang="en-US" dirty="0"/>
              <a:t>If RSI &lt; 30  </a:t>
            </a:r>
            <a:r>
              <a:rPr lang="en-US" b="1" dirty="0"/>
              <a:t>oversold </a:t>
            </a:r>
            <a:r>
              <a:rPr lang="en-US" dirty="0"/>
              <a:t>stock might go </a:t>
            </a:r>
            <a:r>
              <a:rPr lang="en-US" b="1" dirty="0"/>
              <a:t>up soon</a:t>
            </a:r>
            <a:r>
              <a:rPr lang="en-US" dirty="0"/>
              <a:t> → </a:t>
            </a:r>
            <a:r>
              <a:rPr lang="en-US" b="1" dirty="0"/>
              <a:t>Buy signal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data.loc[data['RSI'] &gt; 70, 'Signal'] = -1</a:t>
            </a:r>
          </a:p>
          <a:p>
            <a:endParaRPr lang="it-IT" dirty="0">
              <a:highlight>
                <a:srgbClr val="FFFF00"/>
              </a:highlight>
            </a:endParaRPr>
          </a:p>
          <a:p>
            <a:r>
              <a:rPr lang="en-US" dirty="0"/>
              <a:t>RSI &gt; 70  </a:t>
            </a:r>
            <a:r>
              <a:rPr lang="en-US" b="1" dirty="0"/>
              <a:t>overbought</a:t>
            </a:r>
            <a:r>
              <a:rPr lang="en-US" dirty="0"/>
              <a:t> stock might </a:t>
            </a:r>
            <a:r>
              <a:rPr lang="en-US" b="1" dirty="0"/>
              <a:t>fall soon</a:t>
            </a:r>
            <a:r>
              <a:rPr lang="en-US" dirty="0"/>
              <a:t> → </a:t>
            </a:r>
            <a:r>
              <a:rPr lang="en-US" b="1" dirty="0"/>
              <a:t>Sell signal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it-IT" dirty="0">
                <a:highlight>
                  <a:srgbClr val="FFFF00"/>
                </a:highlight>
              </a:rPr>
              <a:t>data['Position'] = data['Signal'].diff()</a:t>
            </a:r>
          </a:p>
          <a:p>
            <a:endParaRPr lang="it-IT" dirty="0">
              <a:highlight>
                <a:srgbClr val="FFFF00"/>
              </a:highlight>
            </a:endParaRPr>
          </a:p>
          <a:p>
            <a:r>
              <a:rPr lang="en-US" dirty="0"/>
              <a:t>Calculates the </a:t>
            </a:r>
            <a:r>
              <a:rPr lang="en-US" b="1" dirty="0"/>
              <a:t>difference</a:t>
            </a:r>
            <a:r>
              <a:rPr lang="en-US" dirty="0"/>
              <a:t> between today’s and yesterday’s signal.</a:t>
            </a: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B36BAD-B249-F601-21E8-7D03A465E3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3968911"/>
            <a:ext cx="8109096" cy="15260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7376223"/>
            <a:ext cx="6978478" cy="101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Plotting 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51E3D7-9D4E-A60C-EB12-307BEB66A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84" y="952500"/>
            <a:ext cx="9376732" cy="3980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35FA1-BC0F-D85D-8585-FAC0F8C4B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314701"/>
            <a:ext cx="9169880" cy="45672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99665" y="1028700"/>
            <a:ext cx="8259635" cy="8229600"/>
          </a:xfrm>
          <a:custGeom>
            <a:avLst/>
            <a:gdLst/>
            <a:ahLst/>
            <a:cxnLst/>
            <a:rect l="l" t="t" r="r" b="b"/>
            <a:pathLst>
              <a:path w="8259635" h="8229600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000357"/>
            <a:ext cx="8332616" cy="174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24"/>
              </a:lnSpc>
            </a:pPr>
            <a:r>
              <a:rPr lang="en-US" sz="14395" spc="-70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538</Words>
  <Application>Microsoft Office PowerPoint</Application>
  <PresentationFormat>Custom</PresentationFormat>
  <Paragraphs>69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TT Interphases Bold</vt:lpstr>
      <vt:lpstr>Arial</vt:lpstr>
      <vt:lpstr>TT Interphases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Subhendra Singh</cp:lastModifiedBy>
  <cp:revision>3</cp:revision>
  <dcterms:created xsi:type="dcterms:W3CDTF">2006-08-16T00:00:00Z</dcterms:created>
  <dcterms:modified xsi:type="dcterms:W3CDTF">2025-11-10T17:03:02Z</dcterms:modified>
  <dc:identifier>DAG4THnExqw</dc:identifier>
</cp:coreProperties>
</file>